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otham" charset="1" panose="00000000000000000000"/>
      <p:regular r:id="rId16"/>
    </p:embeddedFont>
    <p:embeddedFont>
      <p:font typeface="Gotham Bold" charset="1" panose="00000000000000000000"/>
      <p:regular r:id="rId17"/>
    </p:embeddedFont>
    <p:embeddedFont>
      <p:font typeface="Poppins" charset="1" panose="00000500000000000000"/>
      <p:regular r:id="rId18"/>
    </p:embeddedFont>
    <p:embeddedFont>
      <p:font typeface="Gotham Bold Italics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68512" y="-353712"/>
            <a:ext cx="10994424" cy="10994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91400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84897" y="5379918"/>
            <a:ext cx="6059445" cy="60594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720762" y="6964430"/>
            <a:ext cx="2000810" cy="4114800"/>
          </a:xfrm>
          <a:custGeom>
            <a:avLst/>
            <a:gdLst/>
            <a:ahLst/>
            <a:cxnLst/>
            <a:rect r="r" b="b" t="t" l="l"/>
            <a:pathLst>
              <a:path h="4114800" w="200081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73132" y="4114076"/>
            <a:ext cx="12198237" cy="2291464"/>
            <a:chOff x="0" y="0"/>
            <a:chExt cx="3212705" cy="6035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12704" cy="603513"/>
            </a:xfrm>
            <a:custGeom>
              <a:avLst/>
              <a:gdLst/>
              <a:ahLst/>
              <a:cxnLst/>
              <a:rect r="r" b="b" t="t" l="l"/>
              <a:pathLst>
                <a:path h="603513" w="3212704">
                  <a:moveTo>
                    <a:pt x="0" y="0"/>
                  </a:moveTo>
                  <a:lnTo>
                    <a:pt x="3212704" y="0"/>
                  </a:lnTo>
                  <a:lnTo>
                    <a:pt x="3212704" y="603513"/>
                  </a:lnTo>
                  <a:lnTo>
                    <a:pt x="0" y="603513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212705" cy="63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078409" y="5459428"/>
            <a:ext cx="6131182" cy="191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2"/>
              </a:lnSpc>
            </a:pPr>
            <a:r>
              <a:rPr lang="en-US" sz="5501" spc="308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Dataset:</a:t>
            </a:r>
          </a:p>
          <a:p>
            <a:pPr algn="ctr">
              <a:lnSpc>
                <a:spcPts val="7702"/>
              </a:lnSpc>
              <a:spcBef>
                <a:spcPct val="0"/>
              </a:spcBef>
            </a:pPr>
            <a:r>
              <a:rPr lang="en-US" sz="5501" spc="308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Food Recipe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64241" y="4037876"/>
            <a:ext cx="11159517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b="true" sz="3799" spc="53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PROJET: 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 spc="53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SYSTÈME DE RECOMMENDATION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68500" y="8661165"/>
            <a:ext cx="6151000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224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AUTEUR: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224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OUSSAMA CHAABANE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-9965724" y="-1383136"/>
            <a:ext cx="10994424" cy="109944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65668" y="-5606768"/>
            <a:ext cx="10994424" cy="109944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13420" y="9104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06082" y="1952203"/>
            <a:ext cx="992463" cy="9924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8235" y="4447339"/>
            <a:ext cx="508158" cy="543805"/>
            <a:chOff x="0" y="0"/>
            <a:chExt cx="812800" cy="8698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8235" y="3107362"/>
            <a:ext cx="508158" cy="543805"/>
            <a:chOff x="0" y="0"/>
            <a:chExt cx="812800" cy="8698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8235" y="5115753"/>
            <a:ext cx="508158" cy="543805"/>
            <a:chOff x="0" y="0"/>
            <a:chExt cx="812800" cy="8698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8235" y="3776486"/>
            <a:ext cx="508158" cy="543805"/>
            <a:chOff x="0" y="0"/>
            <a:chExt cx="812800" cy="8698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8235" y="6455730"/>
            <a:ext cx="508158" cy="543805"/>
            <a:chOff x="0" y="0"/>
            <a:chExt cx="812800" cy="8698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8235" y="5784877"/>
            <a:ext cx="508158" cy="543805"/>
            <a:chOff x="0" y="0"/>
            <a:chExt cx="812800" cy="8698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8235" y="7123361"/>
            <a:ext cx="508158" cy="543805"/>
            <a:chOff x="0" y="0"/>
            <a:chExt cx="812800" cy="8698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8235" y="7790991"/>
            <a:ext cx="508158" cy="543805"/>
            <a:chOff x="0" y="0"/>
            <a:chExt cx="812800" cy="8698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3945801">
            <a:off x="16199440" y="7930960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3" y="0"/>
                </a:lnTo>
                <a:lnTo>
                  <a:pt x="1577153" y="3243522"/>
                </a:lnTo>
                <a:lnTo>
                  <a:pt x="0" y="324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457701" y="4732895"/>
            <a:ext cx="8906601" cy="221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  <a:spcBef>
                <a:spcPct val="0"/>
              </a:spcBef>
            </a:pPr>
            <a:r>
              <a:rPr lang="en-US" sz="212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Face à des centaines de milliers de recettes, les utilisateurs sont paralysés. Une simple recherche par mot-clé est inefficace.</a:t>
            </a:r>
          </a:p>
          <a:p>
            <a:pPr algn="l" marL="458661" indent="-229330" lvl="1">
              <a:lnSpc>
                <a:spcPts val="2974"/>
              </a:lnSpc>
              <a:spcBef>
                <a:spcPct val="0"/>
              </a:spcBef>
              <a:buFont typeface="Arial"/>
              <a:buChar char="•"/>
            </a:pPr>
            <a:r>
              <a:rPr lang="en-US" sz="212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Difficulté à trouver des recettes adaptées (temps, régime, ingrédients).</a:t>
            </a:r>
          </a:p>
          <a:p>
            <a:pPr algn="l" marL="458661" indent="-229330" lvl="1">
              <a:lnSpc>
                <a:spcPts val="2974"/>
              </a:lnSpc>
              <a:spcBef>
                <a:spcPct val="0"/>
              </a:spcBef>
              <a:buFont typeface="Arial"/>
              <a:buChar char="•"/>
            </a:pPr>
            <a:r>
              <a:rPr lang="en-US" sz="212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La "paralysie d'analyse" décourage l'exploration.</a:t>
            </a:r>
          </a:p>
          <a:p>
            <a:pPr algn="l">
              <a:lnSpc>
                <a:spcPts val="2974"/>
              </a:lnSpc>
              <a:spcBef>
                <a:spcPct val="0"/>
              </a:spcBef>
            </a:pPr>
            <a:r>
              <a:rPr lang="en-US" sz="212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=&gt; </a:t>
            </a:r>
            <a:r>
              <a:rPr lang="en-US" sz="212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Besoin d'un assistant intelligent pour filtrer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57701" y="2674031"/>
            <a:ext cx="7751164" cy="110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6471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La Problématique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82580" y="-3503638"/>
            <a:ext cx="12753441" cy="127534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313420" y="9104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09357" y="2648112"/>
            <a:ext cx="992463" cy="9924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1509" y="4428296"/>
            <a:ext cx="508158" cy="543805"/>
            <a:chOff x="0" y="0"/>
            <a:chExt cx="812800" cy="8698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1509" y="1982349"/>
            <a:ext cx="508158" cy="543805"/>
            <a:chOff x="0" y="0"/>
            <a:chExt cx="812800" cy="8698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1509" y="5094059"/>
            <a:ext cx="508158" cy="543805"/>
            <a:chOff x="0" y="0"/>
            <a:chExt cx="812800" cy="8698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1509" y="3762533"/>
            <a:ext cx="508158" cy="543805"/>
            <a:chOff x="0" y="0"/>
            <a:chExt cx="812800" cy="8698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1509" y="6425585"/>
            <a:ext cx="508158" cy="543805"/>
            <a:chOff x="0" y="0"/>
            <a:chExt cx="812800" cy="8698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1509" y="5759822"/>
            <a:ext cx="508158" cy="543805"/>
            <a:chOff x="0" y="0"/>
            <a:chExt cx="812800" cy="8698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1509" y="7093216"/>
            <a:ext cx="508158" cy="543805"/>
            <a:chOff x="0" y="0"/>
            <a:chExt cx="812800" cy="8698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1509" y="7760846"/>
            <a:ext cx="508158" cy="543805"/>
            <a:chOff x="0" y="0"/>
            <a:chExt cx="812800" cy="8698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01820" y="898889"/>
            <a:ext cx="9635917" cy="224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6471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Le Dataset: Food.com</a:t>
            </a:r>
          </a:p>
          <a:p>
            <a:pPr algn="l">
              <a:lnSpc>
                <a:spcPts val="905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748158" y="5105400"/>
            <a:ext cx="8134422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reviews.parquet: </a:t>
            </a:r>
            <a:r>
              <a:rPr lang="en-US" sz="189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1M+ avis (utilisé pour l'échantillon et l'évaluation). Contient `AuthorId`, `RecipeId`, `Rating`.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recipes.parquet:</a:t>
            </a:r>
            <a:r>
              <a:rPr lang="en-US" sz="189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500k+ recettes. Contient `Name`, `TotalTime`, `RecipeCategory`, `Calories`, `Description`.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=&gt; L'application utilise un échantillon Jusqu’à 100 000 avis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5396" y="3977285"/>
            <a:ext cx="10148277" cy="42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Un jeu de données riche, idéal pour nos deux méthodes.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3945801">
            <a:off x="16199440" y="7930960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3" y="0"/>
                </a:lnTo>
                <a:lnTo>
                  <a:pt x="1577153" y="3243522"/>
                </a:lnTo>
                <a:lnTo>
                  <a:pt x="0" y="324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9357" y="3315742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509" y="4428296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509" y="1982349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509" y="5094059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509" y="2648112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509" y="6425585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509" y="5759822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1509" y="7093216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1509" y="7760846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439471" y="8737362"/>
            <a:ext cx="3697059" cy="369705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138857" y="1820364"/>
            <a:ext cx="11587550" cy="3983220"/>
          </a:xfrm>
          <a:custGeom>
            <a:avLst/>
            <a:gdLst/>
            <a:ahLst/>
            <a:cxnLst/>
            <a:rect r="r" b="b" t="t" l="l"/>
            <a:pathLst>
              <a:path h="3983220" w="11587550">
                <a:moveTo>
                  <a:pt x="0" y="0"/>
                </a:moveTo>
                <a:lnTo>
                  <a:pt x="11587550" y="0"/>
                </a:lnTo>
                <a:lnTo>
                  <a:pt x="11587550" y="3983220"/>
                </a:lnTo>
                <a:lnTo>
                  <a:pt x="0" y="398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138857" y="6164543"/>
            <a:ext cx="11587550" cy="3273483"/>
          </a:xfrm>
          <a:custGeom>
            <a:avLst/>
            <a:gdLst/>
            <a:ahLst/>
            <a:cxnLst/>
            <a:rect r="r" b="b" t="t" l="l"/>
            <a:pathLst>
              <a:path h="3273483" w="11587550">
                <a:moveTo>
                  <a:pt x="0" y="0"/>
                </a:moveTo>
                <a:lnTo>
                  <a:pt x="11587550" y="0"/>
                </a:lnTo>
                <a:lnTo>
                  <a:pt x="11587550" y="3273483"/>
                </a:lnTo>
                <a:lnTo>
                  <a:pt x="0" y="327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515208" y="480694"/>
            <a:ext cx="3802087" cy="10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9"/>
              </a:lnSpc>
              <a:spcBef>
                <a:spcPct val="0"/>
              </a:spcBef>
            </a:pPr>
            <a:r>
              <a:rPr lang="en-US" b="true" sz="6142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Exemples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9357" y="3983373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509" y="3315742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509" y="1982349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509" y="5094059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509" y="2648112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509" y="6425585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509" y="5759822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1509" y="7093216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1509" y="7760846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923150" y="2869083"/>
            <a:ext cx="9364850" cy="5654028"/>
          </a:xfrm>
          <a:custGeom>
            <a:avLst/>
            <a:gdLst/>
            <a:ahLst/>
            <a:cxnLst/>
            <a:rect r="r" b="b" t="t" l="l"/>
            <a:pathLst>
              <a:path h="5654028" w="9364850">
                <a:moveTo>
                  <a:pt x="0" y="0"/>
                </a:moveTo>
                <a:lnTo>
                  <a:pt x="9364850" y="0"/>
                </a:lnTo>
                <a:lnTo>
                  <a:pt x="9364850" y="5654028"/>
                </a:lnTo>
                <a:lnTo>
                  <a:pt x="0" y="56540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351848" y="4431979"/>
            <a:ext cx="6703469" cy="252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Pour l'utilisateur qui sait ce qu'il veut. Une assistance active.</a:t>
            </a:r>
          </a:p>
          <a:p>
            <a:pPr algn="ctr">
              <a:lnSpc>
                <a:spcPts val="2855"/>
              </a:lnSpc>
              <a:spcBef>
                <a:spcPct val="0"/>
              </a:spcBef>
            </a:pPr>
          </a:p>
          <a:p>
            <a:pPr algn="l" marL="440360" indent="-220180" lvl="1">
              <a:lnSpc>
                <a:spcPts val="2855"/>
              </a:lnSpc>
              <a:buFont typeface="Arial"/>
              <a:buChar char="•"/>
            </a:pPr>
            <a:r>
              <a:rPr lang="en-US" b="true" sz="203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Temps</a:t>
            </a:r>
            <a:r>
              <a:rPr lang="en-US" sz="203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Filtre par temps de cuisson maximum.</a:t>
            </a:r>
          </a:p>
          <a:p>
            <a:pPr algn="l" marL="440360" indent="-220180" lvl="1">
              <a:lnSpc>
                <a:spcPts val="2855"/>
              </a:lnSpc>
              <a:buFont typeface="Arial"/>
              <a:buChar char="•"/>
            </a:pPr>
            <a:r>
              <a:rPr lang="en-US" b="true" sz="203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Calories</a:t>
            </a:r>
            <a:r>
              <a:rPr lang="en-US" sz="203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Filtre par calories maximales.</a:t>
            </a:r>
          </a:p>
          <a:p>
            <a:pPr algn="l" marL="440360" indent="-220180" lvl="1">
              <a:lnSpc>
                <a:spcPts val="2855"/>
              </a:lnSpc>
              <a:buFont typeface="Arial"/>
              <a:buChar char="•"/>
            </a:pPr>
            <a:r>
              <a:rPr lang="en-US" b="true" sz="203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Protéines</a:t>
            </a:r>
            <a:r>
              <a:rPr lang="en-US" sz="203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Filtre par protéines minimales.</a:t>
            </a:r>
          </a:p>
          <a:p>
            <a:pPr algn="l" marL="440360" indent="-220180" lvl="1">
              <a:lnSpc>
                <a:spcPts val="2855"/>
              </a:lnSpc>
              <a:buFont typeface="Arial"/>
              <a:buChar char="•"/>
            </a:pPr>
            <a:r>
              <a:rPr lang="en-US" b="true" sz="203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Note</a:t>
            </a:r>
            <a:r>
              <a:rPr lang="en-US" sz="203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: Filtre par note moyenne minimale.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26549" y="2187576"/>
            <a:ext cx="7442180" cy="5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Méthode 1: Filtrage par Contraintes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08595" y="602779"/>
            <a:ext cx="11647406" cy="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Les 2 méthodes de récommendation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9357" y="4655766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509" y="3320505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509" y="1987111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509" y="3988135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509" y="2652874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509" y="6430348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509" y="5764584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1509" y="7088453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1509" y="7756083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879782" y="375958"/>
            <a:ext cx="9529614" cy="6726566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1762088" y="4114316"/>
            <a:ext cx="6125300" cy="80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"/>
              </a:lnSpc>
              <a:spcBef>
                <a:spcPct val="0"/>
              </a:spcBef>
            </a:pPr>
            <a:r>
              <a:rPr lang="en-US" sz="156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Pour l'utilisateur qui cherche l'inspiration. Un score final pondéré pour une découverte passive.</a:t>
            </a:r>
          </a:p>
          <a:p>
            <a:pPr algn="ctr">
              <a:lnSpc>
                <a:spcPts val="2197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457947" y="133958"/>
            <a:ext cx="7442180" cy="5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Méthode 2: L'Approche Hybride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070501" y="6308390"/>
            <a:ext cx="3625042" cy="2842923"/>
            <a:chOff x="0" y="0"/>
            <a:chExt cx="812800" cy="6374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637435"/>
            </a:xfrm>
            <a:custGeom>
              <a:avLst/>
              <a:gdLst/>
              <a:ahLst/>
              <a:cxnLst/>
              <a:rect r="r" b="b" t="t" l="l"/>
              <a:pathLst>
                <a:path h="637435" w="812800">
                  <a:moveTo>
                    <a:pt x="406400" y="0"/>
                  </a:moveTo>
                  <a:cubicBezTo>
                    <a:pt x="181951" y="0"/>
                    <a:pt x="0" y="142695"/>
                    <a:pt x="0" y="318717"/>
                  </a:cubicBezTo>
                  <a:cubicBezTo>
                    <a:pt x="0" y="494740"/>
                    <a:pt x="181951" y="637435"/>
                    <a:pt x="406400" y="637435"/>
                  </a:cubicBezTo>
                  <a:cubicBezTo>
                    <a:pt x="630849" y="637435"/>
                    <a:pt x="812800" y="494740"/>
                    <a:pt x="812800" y="318717"/>
                  </a:cubicBezTo>
                  <a:cubicBezTo>
                    <a:pt x="812800" y="142695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6915"/>
              <a:ext cx="660400" cy="584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316728" y="6308390"/>
            <a:ext cx="3625042" cy="2842923"/>
            <a:chOff x="0" y="0"/>
            <a:chExt cx="812800" cy="63743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637435"/>
            </a:xfrm>
            <a:custGeom>
              <a:avLst/>
              <a:gdLst/>
              <a:ahLst/>
              <a:cxnLst/>
              <a:rect r="r" b="b" t="t" l="l"/>
              <a:pathLst>
                <a:path h="637435" w="812800">
                  <a:moveTo>
                    <a:pt x="406400" y="0"/>
                  </a:moveTo>
                  <a:cubicBezTo>
                    <a:pt x="181951" y="0"/>
                    <a:pt x="0" y="142695"/>
                    <a:pt x="0" y="318717"/>
                  </a:cubicBezTo>
                  <a:cubicBezTo>
                    <a:pt x="0" y="494740"/>
                    <a:pt x="181951" y="637435"/>
                    <a:pt x="406400" y="637435"/>
                  </a:cubicBezTo>
                  <a:cubicBezTo>
                    <a:pt x="630849" y="637435"/>
                    <a:pt x="812800" y="494740"/>
                    <a:pt x="812800" y="318717"/>
                  </a:cubicBezTo>
                  <a:cubicBezTo>
                    <a:pt x="812800" y="142695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6915"/>
              <a:ext cx="660400" cy="584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88809" y="6308390"/>
            <a:ext cx="3625042" cy="2842923"/>
            <a:chOff x="0" y="0"/>
            <a:chExt cx="812800" cy="63743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637435"/>
            </a:xfrm>
            <a:custGeom>
              <a:avLst/>
              <a:gdLst/>
              <a:ahLst/>
              <a:cxnLst/>
              <a:rect r="r" b="b" t="t" l="l"/>
              <a:pathLst>
                <a:path h="637435" w="812800">
                  <a:moveTo>
                    <a:pt x="406400" y="0"/>
                  </a:moveTo>
                  <a:cubicBezTo>
                    <a:pt x="181951" y="0"/>
                    <a:pt x="0" y="142695"/>
                    <a:pt x="0" y="318717"/>
                  </a:cubicBezTo>
                  <a:cubicBezTo>
                    <a:pt x="0" y="494740"/>
                    <a:pt x="181951" y="637435"/>
                    <a:pt x="406400" y="637435"/>
                  </a:cubicBezTo>
                  <a:cubicBezTo>
                    <a:pt x="630849" y="637435"/>
                    <a:pt x="812800" y="494740"/>
                    <a:pt x="812800" y="318717"/>
                  </a:cubicBezTo>
                  <a:cubicBezTo>
                    <a:pt x="812800" y="142695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6915"/>
              <a:ext cx="660400" cy="584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017365" y="6939594"/>
            <a:ext cx="3899188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Filtrage Collaboratif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« Les utilisateurs qui vous ressemblent ont aimé... » (KNNWithMeans)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78653" y="6957374"/>
            <a:ext cx="3136609" cy="186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b="true" sz="1794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Filtrage de Contenu</a:t>
            </a:r>
          </a:p>
          <a:p>
            <a:pPr algn="ctr">
              <a:lnSpc>
                <a:spcPts val="2511"/>
              </a:lnSpc>
              <a:spcBef>
                <a:spcPct val="0"/>
              </a:spcBef>
            </a:pPr>
          </a:p>
          <a:p>
            <a:pPr algn="ctr">
              <a:lnSpc>
                <a:spcPts val="2511"/>
              </a:lnSpc>
              <a:spcBef>
                <a:spcPct val="0"/>
              </a:spcBef>
            </a:pPr>
            <a:r>
              <a:rPr lang="en-US" sz="179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« Similaire à ce que vous regardez... » (TF-IDF sur 'RecipeCategory')</a:t>
            </a:r>
          </a:p>
          <a:p>
            <a:pPr algn="ctr">
              <a:lnSpc>
                <a:spcPts val="2511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3465412" y="6966899"/>
            <a:ext cx="3271837" cy="175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Con</a:t>
            </a:r>
            <a:r>
              <a:rPr lang="en-US" b="true" sz="170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texte (Popularité)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« Populaire en ce moment...» (Comptage des avis des 90 derniers jours)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5318634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6425585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7093216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741" y="7760846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708501" y="2285565"/>
            <a:ext cx="12707154" cy="7703712"/>
          </a:xfrm>
          <a:custGeom>
            <a:avLst/>
            <a:gdLst/>
            <a:ahLst/>
            <a:cxnLst/>
            <a:rect r="r" b="b" t="t" l="l"/>
            <a:pathLst>
              <a:path h="7703712" w="12707154">
                <a:moveTo>
                  <a:pt x="0" y="0"/>
                </a:moveTo>
                <a:lnTo>
                  <a:pt x="12707153" y="0"/>
                </a:lnTo>
                <a:lnTo>
                  <a:pt x="12707153" y="7703712"/>
                </a:lnTo>
                <a:lnTo>
                  <a:pt x="0" y="770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457947" y="133958"/>
            <a:ext cx="7442180" cy="5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Méthode 2: L'Approche Hybride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5976927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5318634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7093216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741" y="7760846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126549" y="232285"/>
            <a:ext cx="11647406" cy="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 b="tru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Évaluation du Modèle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32372" y="1944249"/>
            <a:ext cx="1124158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Quoi évaluer ?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Nous n'évaluons pas le score hybride (un score de classement), mais son **moteur prédictif** : le Filtrage Collaboratif (KNNWithMeans).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Comment évaluer ?</a:t>
            </a: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Nous mesurons sa capacité à **prédire les notes** en utilisant un échantillon de 10 000 avis, une validation croisée (3-folds) et les métriques RMSE/MAE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32372" y="4443040"/>
            <a:ext cx="2113328" cy="50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Résultats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24267" y="5369867"/>
            <a:ext cx="5143394" cy="1269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5"/>
              </a:lnSpc>
              <a:spcBef>
                <a:spcPct val="0"/>
              </a:spcBef>
            </a:pPr>
            <a:r>
              <a:rPr lang="en-US" sz="183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En moyenne, le modèle se trompe de</a:t>
            </a:r>
            <a:r>
              <a:rPr lang="en-US" b="true" sz="183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0.86 étoile</a:t>
            </a:r>
            <a:r>
              <a:rPr lang="en-US" sz="183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(sur 5) dans ses prédictions. C'est un score honorable pour un échantillon si petit et épars.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5286912" y="-178579"/>
            <a:ext cx="10994424" cy="1099442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8718540" y="4403367"/>
            <a:ext cx="9196064" cy="2689849"/>
          </a:xfrm>
          <a:custGeom>
            <a:avLst/>
            <a:gdLst/>
            <a:ahLst/>
            <a:cxnLst/>
            <a:rect r="r" b="b" t="t" l="l"/>
            <a:pathLst>
              <a:path h="2689849" w="9196064">
                <a:moveTo>
                  <a:pt x="0" y="0"/>
                </a:moveTo>
                <a:lnTo>
                  <a:pt x="9196064" y="0"/>
                </a:lnTo>
                <a:lnTo>
                  <a:pt x="9196064" y="2689849"/>
                </a:lnTo>
                <a:lnTo>
                  <a:pt x="0" y="268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6653894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5318634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5986264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741" y="7760846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6313420" y="1028700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286912" y="-178579"/>
            <a:ext cx="10994424" cy="1099442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608765" y="3158556"/>
            <a:ext cx="9480472" cy="142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2692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Le système combine avec succès un filtre utilitaire (Méthode 1) et un moteur d'inspiration (Méthode 2) dans une application fonctionnelle.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26456" y="1484258"/>
            <a:ext cx="6119048" cy="116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2"/>
              </a:lnSpc>
              <a:spcBef>
                <a:spcPct val="0"/>
              </a:spcBef>
            </a:pPr>
            <a:r>
              <a:rPr lang="en-US" b="true" sz="8243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Conclusion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126456" y="5404359"/>
            <a:ext cx="7899788" cy="116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02"/>
              </a:lnSpc>
              <a:spcBef>
                <a:spcPct val="0"/>
              </a:spcBef>
            </a:pPr>
            <a:r>
              <a:rPr lang="en-US" b="true" sz="8243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Perspectives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08765" y="7713221"/>
            <a:ext cx="13070470" cy="85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  <a:spcBef>
                <a:spcPct val="0"/>
              </a:spcBef>
            </a:pPr>
            <a:r>
              <a:rPr lang="en-US" sz="250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Améliorer le Filtrage de Contenu (en incluant les ingrédients et descriptions) et tester des modèles plus complexes (SVD, Deep Learning).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7321525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5318634"/>
            <a:ext cx="508158" cy="543805"/>
            <a:chOff x="0" y="0"/>
            <a:chExt cx="812800" cy="869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5986264"/>
            <a:ext cx="508158" cy="543805"/>
            <a:chOff x="0" y="0"/>
            <a:chExt cx="812800" cy="8698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7741" y="6653894"/>
            <a:ext cx="508158" cy="543805"/>
            <a:chOff x="0" y="0"/>
            <a:chExt cx="812800" cy="869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69819"/>
            </a:xfrm>
            <a:custGeom>
              <a:avLst/>
              <a:gdLst/>
              <a:ahLst/>
              <a:cxnLst/>
              <a:rect r="r" b="b" t="t" l="l"/>
              <a:pathLst>
                <a:path h="869819" w="81280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6313420" y="1028700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863638" y="4164348"/>
            <a:ext cx="5443901" cy="1391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9"/>
              </a:lnSpc>
            </a:pPr>
            <a:r>
              <a:rPr lang="en-US" sz="11153" i="true" b="true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Merci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DAG45sISqJY</dc:identifier>
  <dcterms:modified xsi:type="dcterms:W3CDTF">2011-08-01T06:04:30Z</dcterms:modified>
  <cp:revision>1</cp:revision>
  <dc:title>White and Orange Simple Portfolio Presentation</dc:title>
</cp:coreProperties>
</file>